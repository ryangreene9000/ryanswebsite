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32918400" cy="438912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58D"/>
    <a:srgbClr val="C6D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A872A1-F328-4BDD-9E11-CBD08D4D3A0E}" v="42" dt="2025-12-08T10:37:02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93" autoAdjust="0"/>
    <p:restoredTop sz="94660"/>
  </p:normalViewPr>
  <p:slideViewPr>
    <p:cSldViewPr snapToGrid="0">
      <p:cViewPr varScale="1">
        <p:scale>
          <a:sx n="19" d="100"/>
          <a:sy n="19" d="100"/>
        </p:scale>
        <p:origin x="26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F7DB0-CB33-8CD4-6200-E966A58F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9AF1-9336-DE23-9E8F-EFE082A3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20250-6372-4719-37F8-8A7BAA00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3F5B-1132-42F7-827B-9C9BBEFA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1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30000"/>
            <a:duotone>
              <a:schemeClr val="accent5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 l="-50000" r="-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1DE04-F718-CA2B-D440-61BB12533E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98811" y="385238"/>
            <a:ext cx="301207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200" b="1" kern="1200" baseline="0" dirty="0">
                <a:solidFill>
                  <a:srgbClr val="02458D"/>
                </a:solidFill>
                <a:latin typeface="+mn-lt"/>
                <a:ea typeface="+mn-ea"/>
                <a:cs typeface="+mn-cs"/>
              </a:rPr>
              <a:t>EE497: EMBEDDED SYSTEM APPLICATION DEVELOPMENT </a:t>
            </a:r>
          </a:p>
          <a:p>
            <a:pPr algn="ctr"/>
            <a:r>
              <a:rPr lang="en-US" sz="9200" b="1" baseline="0" dirty="0">
                <a:solidFill>
                  <a:srgbClr val="02458D"/>
                </a:solidFill>
              </a:rPr>
              <a:t>FALL2025 POSTER &amp; DEMO COMPETITION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E1A10-2629-1502-C50F-AC0774E29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797" y="3657600"/>
            <a:ext cx="29260800" cy="38404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EECS-duo.png">
            <a:extLst>
              <a:ext uri="{FF2B5EF4-FFF2-40B4-BE49-F238E27FC236}">
                <a16:creationId xmlns:a16="http://schemas.microsoft.com/office/drawing/2014/main" id="{9CC0BDE5-93B2-D36E-F990-CB17A11A81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7" y="42297414"/>
            <a:ext cx="13528721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043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2468486" rtl="0" eaLnBrk="1" latinLnBrk="0" hangingPunct="1">
        <a:lnSpc>
          <a:spcPct val="90000"/>
        </a:lnSpc>
        <a:spcBef>
          <a:spcPct val="0"/>
        </a:spcBef>
        <a:buNone/>
        <a:defRPr sz="118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7120" indent="-617120" algn="l" defTabSz="2468486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851363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085606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319849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5554092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788335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8022578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9256818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10491061" indent="-617120" algn="l" defTabSz="2468486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234243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468486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3pPr>
      <a:lvl4pPr marL="3702729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4936969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171212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7405455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8639698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9873941" algn="l" defTabSz="2468486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3F86-F384-44F4-61BF-A13D2443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D9CAC8F-0E7E-9E26-BE53-3D2A76AC1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657" y="34164737"/>
            <a:ext cx="13846628" cy="76391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4FE92E-31C2-2659-4937-93E23FFD2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3118" y="34701901"/>
            <a:ext cx="14057760" cy="710197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104BEA-0184-492A-D35B-70263A13F907}"/>
              </a:ext>
            </a:extLst>
          </p:cNvPr>
          <p:cNvSpPr/>
          <p:nvPr/>
        </p:nvSpPr>
        <p:spPr>
          <a:xfrm>
            <a:off x="2416627" y="7611738"/>
            <a:ext cx="17193863" cy="3976582"/>
          </a:xfrm>
          <a:prstGeom prst="roundRect">
            <a:avLst/>
          </a:prstGeom>
          <a:noFill/>
          <a:ln w="101600">
            <a:solidFill>
              <a:srgbClr val="0245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CD959-3AF0-A815-0A53-EB0D5CF40C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828800" y="3900412"/>
            <a:ext cx="29195486" cy="2324100"/>
          </a:xfrm>
        </p:spPr>
        <p:txBody>
          <a:bodyPr/>
          <a:lstStyle/>
          <a:p>
            <a:pPr algn="ctr"/>
            <a:r>
              <a:rPr lang="en-US" sz="9600" dirty="0" err="1">
                <a:latin typeface="+mn-lt"/>
              </a:rPr>
              <a:t>OpenDrive</a:t>
            </a:r>
            <a:r>
              <a:rPr lang="en-US" sz="9600" dirty="0">
                <a:latin typeface="+mn-lt"/>
              </a:rPr>
              <a:t>: Open-Source Infotainment &amp; Sensing Platform</a:t>
            </a:r>
            <a:br>
              <a:rPr lang="en-US" sz="9600" dirty="0">
                <a:latin typeface="+mn-lt"/>
              </a:rPr>
            </a:br>
            <a:endParaRPr lang="en-US" sz="96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9F091-9634-6140-8AF8-BF21431237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365875" y="5144244"/>
            <a:ext cx="20186650" cy="2324100"/>
          </a:xfrm>
        </p:spPr>
        <p:txBody>
          <a:bodyPr/>
          <a:lstStyle/>
          <a:p>
            <a:pPr marL="0" indent="0" algn="ctr">
              <a:buNone/>
            </a:pPr>
            <a:r>
              <a:rPr lang="en-US" sz="7200" dirty="0"/>
              <a:t>Authors: Ryan Greene and Charles Brocato </a:t>
            </a:r>
          </a:p>
          <a:p>
            <a:pPr marL="0" indent="0" algn="ctr">
              <a:buNone/>
            </a:pPr>
            <a:r>
              <a:rPr lang="en-US" sz="7200" dirty="0"/>
              <a:t>Instructor: Dr. Xiaozhen Wang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610BBD-4949-010E-8FE7-A5F687CD1268}"/>
              </a:ext>
            </a:extLst>
          </p:cNvPr>
          <p:cNvSpPr txBox="1"/>
          <p:nvPr/>
        </p:nvSpPr>
        <p:spPr>
          <a:xfrm>
            <a:off x="2677885" y="7639330"/>
            <a:ext cx="166898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Abstract</a:t>
            </a:r>
          </a:p>
          <a:p>
            <a:r>
              <a:rPr lang="en-US" sz="3600" dirty="0"/>
              <a:t>Many cars still lack modern infotainment systems like Apple CarPlay, and aftermarket options typically cost $500–$600. Our project provides a low-cost alternative by building a functional CarPlay-style system for </a:t>
            </a:r>
            <a:r>
              <a:rPr lang="en-US" sz="3600" b="1" dirty="0"/>
              <a:t>$120</a:t>
            </a:r>
            <a:r>
              <a:rPr lang="en-US" sz="3600" dirty="0"/>
              <a:t> using a Raspberry Pi, a custom touchscreen UI, and the Google Maps API. The system supports music playback and live navigation, demonstrating that essential in-car features can be delivered affordably and efficiently.</a:t>
            </a:r>
          </a:p>
          <a:p>
            <a:endParaRPr lang="en-US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DA991-28DC-A121-3DBD-C19DF85AEE64}"/>
              </a:ext>
            </a:extLst>
          </p:cNvPr>
          <p:cNvSpPr txBox="1"/>
          <p:nvPr/>
        </p:nvSpPr>
        <p:spPr>
          <a:xfrm>
            <a:off x="18858364" y="7618257"/>
            <a:ext cx="13748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Motivation:</a:t>
            </a:r>
            <a:endParaRPr lang="en-US" sz="3600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441070-5BC3-75C0-11EB-82B19FB005E8}"/>
              </a:ext>
            </a:extLst>
          </p:cNvPr>
          <p:cNvSpPr txBox="1"/>
          <p:nvPr/>
        </p:nvSpPr>
        <p:spPr>
          <a:xfrm>
            <a:off x="20280085" y="14909913"/>
            <a:ext cx="10226140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Features:</a:t>
            </a:r>
          </a:p>
          <a:p>
            <a:r>
              <a:rPr lang="en-US" sz="3600" dirty="0"/>
              <a:t>The CarPlay Infotainment System consists of: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Raspberry Pi hardware</a:t>
            </a:r>
            <a:r>
              <a:rPr lang="en-US" sz="3600" dirty="0"/>
              <a:t> running the core system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React-based touchscreen interface</a:t>
            </a:r>
            <a:r>
              <a:rPr lang="en-US" sz="3600" dirty="0"/>
              <a:t> for user interactions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Python backend services</a:t>
            </a:r>
            <a:r>
              <a:rPr lang="en-US" sz="3600" dirty="0"/>
              <a:t> handling media control, navigation requests, and Wi-Fi-based location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Google Maps API</a:t>
            </a:r>
            <a:r>
              <a:rPr lang="en-US" sz="3600" dirty="0"/>
              <a:t> for accurate route rendering and real-time location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Wi-Fi geolocation</a:t>
            </a:r>
            <a:r>
              <a:rPr lang="en-US" sz="3600" dirty="0"/>
              <a:t> used to estimate the user’s position when GPS hardware is unavailable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User actions—such as selecting music, starting navigation, or adjusting settings—flow from the touchscreen to the backend services, which then update the UI accordingly.</a:t>
            </a:r>
          </a:p>
          <a:p>
            <a:endParaRPr lang="en-US" sz="3600" dirty="0"/>
          </a:p>
        </p:txBody>
      </p:sp>
      <p:pic>
        <p:nvPicPr>
          <p:cNvPr id="19" name="Picture 18" descr="A black rectangular device with a blue screen&#10;&#10;AI-generated content may be incorrect.">
            <a:extLst>
              <a:ext uri="{FF2B5EF4-FFF2-40B4-BE49-F238E27FC236}">
                <a16:creationId xmlns:a16="http://schemas.microsoft.com/office/drawing/2014/main" id="{A9DE19D6-23CD-CDF3-1913-B29864117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8" t="12035" r="5519" b="18761"/>
          <a:stretch>
            <a:fillRect/>
          </a:stretch>
        </p:blipFill>
        <p:spPr>
          <a:xfrm>
            <a:off x="2666138" y="12479239"/>
            <a:ext cx="9916096" cy="58711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A236FB3-4AAA-67D5-F7CC-CA366C792C7C}"/>
              </a:ext>
            </a:extLst>
          </p:cNvPr>
          <p:cNvSpPr txBox="1"/>
          <p:nvPr/>
        </p:nvSpPr>
        <p:spPr>
          <a:xfrm>
            <a:off x="12703630" y="12174794"/>
            <a:ext cx="66640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User Interface: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Home Screen</a:t>
            </a:r>
            <a:r>
              <a:rPr lang="en-US" sz="3600" dirty="0"/>
              <a:t>: Provides quick access to music, navigation, Android Auto, and system settings, while offering integrated voice control and real-time vehicle data such as temperature and air pressure. (Left)</a:t>
            </a:r>
            <a:endParaRPr lang="en-US" sz="3600" b="1" dirty="0"/>
          </a:p>
        </p:txBody>
      </p:sp>
      <p:pic>
        <p:nvPicPr>
          <p:cNvPr id="26" name="Picture 25" descr="A screen shot of a tablet&#10;&#10;AI-generated content may be incorrect.">
            <a:extLst>
              <a:ext uri="{FF2B5EF4-FFF2-40B4-BE49-F238E27FC236}">
                <a16:creationId xmlns:a16="http://schemas.microsoft.com/office/drawing/2014/main" id="{64037638-1D86-8218-ECFB-09C2A4338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8" t="12208" b="2666"/>
          <a:stretch>
            <a:fillRect/>
          </a:stretch>
        </p:blipFill>
        <p:spPr>
          <a:xfrm>
            <a:off x="9267654" y="19094335"/>
            <a:ext cx="9841426" cy="6502908"/>
          </a:xfrm>
          <a:prstGeom prst="rect">
            <a:avLst/>
          </a:prstGeom>
        </p:spPr>
      </p:pic>
      <p:pic>
        <p:nvPicPr>
          <p:cNvPr id="28" name="Picture 27" descr="A tablet with a screen&#10;&#10;AI-generated content may be incorrect.">
            <a:extLst>
              <a:ext uri="{FF2B5EF4-FFF2-40B4-BE49-F238E27FC236}">
                <a16:creationId xmlns:a16="http://schemas.microsoft.com/office/drawing/2014/main" id="{4CC2E803-34BC-B23E-D340-923C0F6C4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6" b="7355"/>
          <a:stretch>
            <a:fillRect/>
          </a:stretch>
        </p:blipFill>
        <p:spPr>
          <a:xfrm>
            <a:off x="2666138" y="26341158"/>
            <a:ext cx="9916096" cy="650290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3505E56-D1D9-3919-D59E-8C3DCCFB30D0}"/>
              </a:ext>
            </a:extLst>
          </p:cNvPr>
          <p:cNvSpPr txBox="1"/>
          <p:nvPr/>
        </p:nvSpPr>
        <p:spPr>
          <a:xfrm>
            <a:off x="16907671" y="34983132"/>
            <a:ext cx="1374865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Conclusion and Future Work</a:t>
            </a:r>
          </a:p>
          <a:p>
            <a:r>
              <a:rPr lang="en-US" sz="3600" dirty="0"/>
              <a:t>The CarPlay Infotainment System successfully delivers an accessible and functional infotainment experience at a fraction of typical market cost. The project demonstrates that modern in-car connectivity can be achieved without expensive proprietary hardware.</a:t>
            </a:r>
          </a:p>
          <a:p>
            <a:r>
              <a:rPr lang="en-US" sz="3600" dirty="0"/>
              <a:t>Future improvements may include: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Integration of Bluetooth audio and hands-free calling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Voice assistant capabilities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Optional GPS module for even higher location accuracy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Support for additional apps and media formats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 refined and more compact hardware enclosure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72BD13-D5D6-798A-D907-17E5D3CF658F}"/>
              </a:ext>
            </a:extLst>
          </p:cNvPr>
          <p:cNvSpPr txBox="1"/>
          <p:nvPr/>
        </p:nvSpPr>
        <p:spPr>
          <a:xfrm>
            <a:off x="2677883" y="34370078"/>
            <a:ext cx="134874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/>
              <a:t>Market Survey:</a:t>
            </a:r>
          </a:p>
          <a:p>
            <a:r>
              <a:rPr lang="en-US" sz="3600" dirty="0"/>
              <a:t>About 60% of vehicles currently driven lack Apple CarPlay, representing over 150 million vehicles in the United States alone. Budget-conscious drivers and DIY hobbyists represent a strong target segment.</a:t>
            </a:r>
          </a:p>
          <a:p>
            <a:endParaRPr lang="en-US" sz="3600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115B6E5-1A16-5800-4315-7F78285C2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249217"/>
              </p:ext>
            </p:extLst>
          </p:nvPr>
        </p:nvGraphicFramePr>
        <p:xfrm>
          <a:off x="3021979" y="36988576"/>
          <a:ext cx="12342011" cy="4303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537">
                  <a:extLst>
                    <a:ext uri="{9D8B030D-6E8A-4147-A177-3AD203B41FA5}">
                      <a16:colId xmlns:a16="http://schemas.microsoft.com/office/drawing/2014/main" val="280446350"/>
                    </a:ext>
                  </a:extLst>
                </a:gridCol>
                <a:gridCol w="4370237">
                  <a:extLst>
                    <a:ext uri="{9D8B030D-6E8A-4147-A177-3AD203B41FA5}">
                      <a16:colId xmlns:a16="http://schemas.microsoft.com/office/drawing/2014/main" val="2382475703"/>
                    </a:ext>
                  </a:extLst>
                </a:gridCol>
                <a:gridCol w="4370237">
                  <a:extLst>
                    <a:ext uri="{9D8B030D-6E8A-4147-A177-3AD203B41FA5}">
                      <a16:colId xmlns:a16="http://schemas.microsoft.com/office/drawing/2014/main" val="1174427320"/>
                    </a:ext>
                  </a:extLst>
                </a:gridCol>
              </a:tblGrid>
              <a:tr h="730447">
                <a:tc>
                  <a:txBody>
                    <a:bodyPr/>
                    <a:lstStyle/>
                    <a:p>
                      <a:r>
                        <a:rPr lang="en-US" sz="3600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Aftermarket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514708"/>
                  </a:ext>
                </a:extLst>
              </a:tr>
              <a:tr h="570338">
                <a:tc>
                  <a:txBody>
                    <a:bodyPr/>
                    <a:lstStyle/>
                    <a:p>
                      <a:r>
                        <a:rPr lang="en-US" sz="24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$500-$600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879773"/>
                  </a:ext>
                </a:extLst>
              </a:tr>
              <a:tr h="863970">
                <a:tc>
                  <a:txBody>
                    <a:bodyPr/>
                    <a:lstStyle/>
                    <a:p>
                      <a:r>
                        <a:rPr lang="en-US" sz="2400" dirty="0"/>
                        <a:t>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Google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Carplay</a:t>
                      </a:r>
                      <a:r>
                        <a:rPr lang="en-US" sz="2400" dirty="0"/>
                        <a:t>-Based maps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421530"/>
                  </a:ext>
                </a:extLst>
              </a:tr>
              <a:tr h="605508">
                <a:tc>
                  <a:txBody>
                    <a:bodyPr/>
                    <a:lstStyle/>
                    <a:p>
                      <a:r>
                        <a:rPr lang="en-US" sz="2400" dirty="0"/>
                        <a:t>Music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Local + Streaming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Carplay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910989"/>
                  </a:ext>
                </a:extLst>
              </a:tr>
              <a:tr h="570338">
                <a:tc>
                  <a:txBody>
                    <a:bodyPr/>
                    <a:lstStyle/>
                    <a:p>
                      <a:r>
                        <a:rPr lang="en-US" sz="2400" dirty="0"/>
                        <a:t>Open 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66452"/>
                  </a:ext>
                </a:extLst>
              </a:tr>
              <a:tr h="963364">
                <a:tc>
                  <a:txBody>
                    <a:bodyPr/>
                    <a:lstStyle/>
                    <a:p>
                      <a:r>
                        <a:rPr lang="en-US" sz="2400" dirty="0"/>
                        <a:t>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Simple, DIY friendly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Requires rewiring or shop Installation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90296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EA86E23A-DCFB-E755-9D56-73406B26BE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879"/>
          <a:stretch>
            <a:fillRect/>
          </a:stretch>
        </p:blipFill>
        <p:spPr>
          <a:xfrm>
            <a:off x="20457563" y="9488781"/>
            <a:ext cx="10058399" cy="40699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70E599-F62B-6DE9-B62B-AB3B23F0F7C6}"/>
              </a:ext>
            </a:extLst>
          </p:cNvPr>
          <p:cNvSpPr txBox="1"/>
          <p:nvPr/>
        </p:nvSpPr>
        <p:spPr>
          <a:xfrm>
            <a:off x="21272620" y="8250656"/>
            <a:ext cx="15306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Older</a:t>
            </a:r>
            <a:br>
              <a:rPr lang="en-US" sz="3600" dirty="0"/>
            </a:br>
            <a:r>
              <a:rPr lang="en-US" sz="3600" dirty="0"/>
              <a:t>Vehicle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9276E3-5306-E8B4-55AF-415D19BF075D}"/>
              </a:ext>
            </a:extLst>
          </p:cNvPr>
          <p:cNvSpPr txBox="1"/>
          <p:nvPr/>
        </p:nvSpPr>
        <p:spPr>
          <a:xfrm>
            <a:off x="24438084" y="8250657"/>
            <a:ext cx="24578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Typical</a:t>
            </a:r>
            <a:br>
              <a:rPr lang="en-US" sz="3600" dirty="0"/>
            </a:br>
            <a:r>
              <a:rPr lang="en-US" sz="3600" dirty="0"/>
              <a:t>Aftermarket</a:t>
            </a:r>
            <a:br>
              <a:rPr lang="en-US" sz="3600" dirty="0"/>
            </a:br>
            <a:r>
              <a:rPr lang="en-US" sz="3600" dirty="0"/>
              <a:t>Cost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0B78BC-8263-5C4E-FA55-AD783A44D661}"/>
              </a:ext>
            </a:extLst>
          </p:cNvPr>
          <p:cNvSpPr txBox="1"/>
          <p:nvPr/>
        </p:nvSpPr>
        <p:spPr>
          <a:xfrm>
            <a:off x="27743008" y="8250657"/>
            <a:ext cx="21871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err="1"/>
              <a:t>OpenDrive</a:t>
            </a:r>
            <a:br>
              <a:rPr lang="en-US" sz="3600" dirty="0"/>
            </a:br>
            <a:r>
              <a:rPr lang="en-US" sz="3600" dirty="0"/>
              <a:t>Unit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F430C8-9F19-F868-9F90-E850342F57F0}"/>
              </a:ext>
            </a:extLst>
          </p:cNvPr>
          <p:cNvSpPr/>
          <p:nvPr/>
        </p:nvSpPr>
        <p:spPr>
          <a:xfrm>
            <a:off x="20214771" y="7577591"/>
            <a:ext cx="10301191" cy="6338470"/>
          </a:xfrm>
          <a:prstGeom prst="roundRect">
            <a:avLst/>
          </a:prstGeom>
          <a:noFill/>
          <a:ln w="101600">
            <a:solidFill>
              <a:srgbClr val="0245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CBDF9C-35F1-E37B-7A53-C9211930171C}"/>
              </a:ext>
            </a:extLst>
          </p:cNvPr>
          <p:cNvSpPr txBox="1"/>
          <p:nvPr/>
        </p:nvSpPr>
        <p:spPr>
          <a:xfrm>
            <a:off x="22590439" y="13218230"/>
            <a:ext cx="5549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Figure 1. </a:t>
            </a:r>
            <a:r>
              <a:rPr lang="en-US" sz="3600" dirty="0"/>
              <a:t>Motivation Graphic</a:t>
            </a:r>
            <a:endParaRPr lang="en-US" sz="36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5C3DC1-7958-6220-5B9E-788D17B312CE}"/>
              </a:ext>
            </a:extLst>
          </p:cNvPr>
          <p:cNvSpPr/>
          <p:nvPr/>
        </p:nvSpPr>
        <p:spPr>
          <a:xfrm>
            <a:off x="2334144" y="12029029"/>
            <a:ext cx="17193863" cy="21644854"/>
          </a:xfrm>
          <a:prstGeom prst="roundRect">
            <a:avLst>
              <a:gd name="adj" fmla="val 3941"/>
            </a:avLst>
          </a:prstGeom>
          <a:noFill/>
          <a:ln w="101600">
            <a:solidFill>
              <a:srgbClr val="0245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676D86-4383-AA76-6FBE-A5A737B378BC}"/>
              </a:ext>
            </a:extLst>
          </p:cNvPr>
          <p:cNvSpPr txBox="1"/>
          <p:nvPr/>
        </p:nvSpPr>
        <p:spPr>
          <a:xfrm>
            <a:off x="2666138" y="18450556"/>
            <a:ext cx="439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Figure 2. </a:t>
            </a:r>
            <a:r>
              <a:rPr lang="en-US" sz="3600" dirty="0"/>
              <a:t>Home screen</a:t>
            </a:r>
            <a:endParaRPr lang="en-US" sz="3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DE8554-08E3-33D3-7651-8785FFF150E6}"/>
              </a:ext>
            </a:extLst>
          </p:cNvPr>
          <p:cNvSpPr txBox="1"/>
          <p:nvPr/>
        </p:nvSpPr>
        <p:spPr>
          <a:xfrm>
            <a:off x="13964851" y="25694827"/>
            <a:ext cx="5144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Figure 3. </a:t>
            </a:r>
            <a:r>
              <a:rPr lang="en-US" sz="3600" dirty="0"/>
              <a:t>Navigation Menu</a:t>
            </a:r>
            <a:endParaRPr lang="en-US" sz="3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EEA057-6C5C-B491-67BF-5D344302FFEE}"/>
              </a:ext>
            </a:extLst>
          </p:cNvPr>
          <p:cNvSpPr txBox="1"/>
          <p:nvPr/>
        </p:nvSpPr>
        <p:spPr>
          <a:xfrm>
            <a:off x="2666138" y="32935809"/>
            <a:ext cx="4265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Figure 4. </a:t>
            </a:r>
            <a:r>
              <a:rPr lang="en-US" sz="3600" dirty="0"/>
              <a:t>Music Menu</a:t>
            </a:r>
            <a:endParaRPr lang="en-US" sz="3600" b="1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374DF0B-7577-5CED-74EE-90CDACAB896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428" t="3104" r="19003" b="4824"/>
          <a:stretch>
            <a:fillRect/>
          </a:stretch>
        </p:blipFill>
        <p:spPr>
          <a:xfrm>
            <a:off x="20139718" y="24539878"/>
            <a:ext cx="10301193" cy="8467473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3A1A594-5F7E-6D2F-5691-426F65E0D02E}"/>
              </a:ext>
            </a:extLst>
          </p:cNvPr>
          <p:cNvSpPr/>
          <p:nvPr/>
        </p:nvSpPr>
        <p:spPr>
          <a:xfrm>
            <a:off x="20214769" y="14451413"/>
            <a:ext cx="10301191" cy="19713323"/>
          </a:xfrm>
          <a:prstGeom prst="roundRect">
            <a:avLst>
              <a:gd name="adj" fmla="val 11912"/>
            </a:avLst>
          </a:prstGeom>
          <a:noFill/>
          <a:ln w="101600">
            <a:solidFill>
              <a:srgbClr val="0245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940F4A-933C-711A-594F-7ACE1624844D}"/>
              </a:ext>
            </a:extLst>
          </p:cNvPr>
          <p:cNvSpPr txBox="1"/>
          <p:nvPr/>
        </p:nvSpPr>
        <p:spPr>
          <a:xfrm>
            <a:off x="13399623" y="27010352"/>
            <a:ext cx="47904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Music Screen:</a:t>
            </a:r>
            <a:r>
              <a:rPr lang="en-US" sz="3600" dirty="0"/>
              <a:t> Allows playback control, playlist navigation, and local media browsing. (Left)</a:t>
            </a:r>
          </a:p>
          <a:p>
            <a:endParaRPr lang="en-US" sz="3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E19BCF-AEC1-B483-30A1-EC21671DCE89}"/>
              </a:ext>
            </a:extLst>
          </p:cNvPr>
          <p:cNvSpPr txBox="1"/>
          <p:nvPr/>
        </p:nvSpPr>
        <p:spPr>
          <a:xfrm>
            <a:off x="3249863" y="19603463"/>
            <a:ext cx="57591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Navigation Screen:</a:t>
            </a:r>
            <a:r>
              <a:rPr lang="en-US" sz="3600" dirty="0"/>
              <a:t> Uses Google Maps API for real-time directions and location updates via Wi-Fi. (Right)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03697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497.001 Project Poster Template.potx" id="{910FF4E9-BF40-4602-8832-1097EC5FCD9D}" vid="{E1296E9C-8A1A-40D0-9A44-C1E70E0354F8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797</TotalTime>
  <Words>443</Words>
  <Application>Microsoft Macintosh PowerPoint</Application>
  <PresentationFormat>Custom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de Office</vt:lpstr>
      <vt:lpstr>OpenDrive: Open-Source Infotainment &amp; Sensing Platform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Greene, Ryan Christopher</dc:creator>
  <cp:lastModifiedBy>Greene, Ryan Christopher</cp:lastModifiedBy>
  <cp:revision>3</cp:revision>
  <dcterms:created xsi:type="dcterms:W3CDTF">2025-12-07T19:29:17Z</dcterms:created>
  <dcterms:modified xsi:type="dcterms:W3CDTF">2025-12-23T22:01:10Z</dcterms:modified>
</cp:coreProperties>
</file>